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講者開場：以一位示意個案，帶大家看 CGM 如何補足 HbA1c 與指尖血糖看不到的資訊。全程約 10–12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開場：先問聽眾，HbA1c 7.6% 的病人，一天裡的血糖是什麼樣子？CGM 讓我們看到 HbA1c 與指尖血糖看不到的部分。說明貼片使用方式、14 天與資料充足度要求。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約凌晨 3–8 時，升糖荷爾蒙使胰島素阻抗上升
只測起床前一點，容易低估整夜曲線
可評估晚餐內容、睡前或晚間藥物時間，並排除夜間低血糖後反彈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白稀飯加饅頭，精製澱粉為主，蛋白質與蔬菜不足
餐後 2 小時未被指尖血糖涵蓋，CGM 可直接看到峰值與持續時間
衛教切入點：份量、組合與進食順序，而非單純「少吃」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1：&lt; 70 mg/dL；Level 2：&lt; 54 mg/dL；Level 3：伴嚴重症狀需他人協助
午餐量少時，磺醯脲類使傍晚低血糖風險升高，個案常誤認為疲勞
處置：15 公克速效糖類，15 分鐘後再測，並與醫師討論藥物調整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AGP 判讀順序：先看低血糖，再看變異，最後看 TIR
用個案自己的曲線討論，比口頭衛教更有感
以個案語言訂定一到兩個可達成的行為目標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TIR 52% → 78%（目標 &gt; 70%）
TBR 6% → 1%（目標 &lt; 4%）
CV 41% → 29%（目標 ≤ 36%）；GMI 8.1% → 7.0%
TIR 提升與微血管併發症風險下降相關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追蹤順序：先看低血糖（TBR），再看變異（CV），最後看 TIR，並與 GMI、HbA1c 對照。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收尾：看見、討論、追蹤。歡迎提問。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王先生的 CGM 一天</a:t>
            </a:r>
            <a:endParaRPr lang="en-US" dirty="0"/>
          </a:p>
        </p:txBody>
      </p:sp>
      <p:sp>
        <p:nvSpPr>
          <p:cNvPr id="3" name="副標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連續血糖監測個案故事（漫畫版）</a:t>
            </a:r>
            <a:endParaRPr lang="en-US" sz="2400" dirty="0"/>
          </a:p>
        </p:txBody>
      </p:sp>
      <p:sp>
        <p:nvSpPr>
          <p:cNvPr id="4" name="說明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示意個案．供醫療人員衛教與教學使用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① 起點：為什麼戴 CGM</a:t>
            </a:r>
            <a:endParaRPr lang="en-US" dirty="0"/>
          </a:p>
        </p:txBody>
      </p:sp>
      <p:pic>
        <p:nvPicPr>
          <p:cNvPr id="3" name="漫畫第1格" descr="第1格漫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4828032"/>
          </a:xfrm>
          <a:prstGeom prst="rect">
            <a:avLst/>
          </a:prstGeom>
        </p:spPr>
      </p:pic>
      <p:sp>
        <p:nvSpPr>
          <p:cNvPr id="4" name="重點卡"/>
          <p:cNvSpPr/>
          <p:nvPr/>
        </p:nvSpPr>
        <p:spPr>
          <a:xfrm>
            <a:off x="6858000" y="1325880"/>
            <a:ext cx="4800600" cy="482803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5" name="講者重點"/>
          <p:cNvSpPr txBox="1"/>
          <p:nvPr/>
        </p:nvSpPr>
        <p:spPr>
          <a:xfrm>
            <a:off x="7086600" y="155448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個案：T2DM 11 年，磺醯脲類藥物加 Metformin，HbA1c 7.6%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HbA1c 看不到變異與低血糖，指尖血糖多為空腹單點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戴用 14 天，有效資料建議 ≥ 70% 時間，才足以判讀 AGP</a:t>
            </a:r>
            <a:endParaRPr lang="en-US" sz="1800" dirty="0"/>
          </a:p>
        </p:txBody>
      </p:sp>
      <p:sp>
        <p:nvSpPr>
          <p:cNvPr id="6" name="出處"/>
          <p:cNvSpPr txBox="1"/>
          <p:nvPr/>
        </p:nvSpPr>
        <p:spPr>
          <a:xfrm>
            <a:off x="7086600" y="52578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Battelino T, et al. Diabetes Care 2019;42:1593.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② 清晨：黎明現象</a:t>
            </a:r>
            <a:endParaRPr lang="en-US" dirty="0"/>
          </a:p>
        </p:txBody>
      </p:sp>
      <p:pic>
        <p:nvPicPr>
          <p:cNvPr id="3" name="漫畫第2格" descr="第2格漫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4828032"/>
          </a:xfrm>
          <a:prstGeom prst="rect">
            <a:avLst/>
          </a:prstGeom>
        </p:spPr>
      </p:pic>
      <p:sp>
        <p:nvSpPr>
          <p:cNvPr id="4" name="重點卡"/>
          <p:cNvSpPr/>
          <p:nvPr/>
        </p:nvSpPr>
        <p:spPr>
          <a:xfrm>
            <a:off x="6858000" y="1325880"/>
            <a:ext cx="4800600" cy="482803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5" name="講者重點"/>
          <p:cNvSpPr txBox="1"/>
          <p:nvPr/>
        </p:nvSpPr>
        <p:spPr>
          <a:xfrm>
            <a:off x="7086600" y="1554480"/>
            <a:ext cx="4343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約凌晨 3–8 時，升糖荷爾蒙使胰島素阻抗上升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只測起床前一點，容易低估整夜曲線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可評估晚餐內容、睡前或晚間藥物時間，並排除夜間低血糖後反彈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③ 早餐：餐後高峰</a:t>
            </a:r>
            <a:endParaRPr lang="en-US" dirty="0"/>
          </a:p>
        </p:txBody>
      </p:sp>
      <p:pic>
        <p:nvPicPr>
          <p:cNvPr id="3" name="漫畫第3格" descr="第3格漫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4828032"/>
          </a:xfrm>
          <a:prstGeom prst="rect">
            <a:avLst/>
          </a:prstGeom>
        </p:spPr>
      </p:pic>
      <p:sp>
        <p:nvSpPr>
          <p:cNvPr id="4" name="重點卡"/>
          <p:cNvSpPr/>
          <p:nvPr/>
        </p:nvSpPr>
        <p:spPr>
          <a:xfrm>
            <a:off x="6858000" y="1325880"/>
            <a:ext cx="4800600" cy="482803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5" name="講者重點"/>
          <p:cNvSpPr txBox="1"/>
          <p:nvPr/>
        </p:nvSpPr>
        <p:spPr>
          <a:xfrm>
            <a:off x="7086600" y="1554480"/>
            <a:ext cx="4343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白稀飯加饅頭，精製澱粉為主，蛋白質與蔬菜不足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餐後 2 小時未被指尖血糖涵蓋，CGM 可直接看到峰值與持續時間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衛教切入點：份量、組合與進食順序，而非單純「少吃」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④ 傍晚：低血糖</a:t>
            </a:r>
            <a:endParaRPr lang="en-US" dirty="0"/>
          </a:p>
        </p:txBody>
      </p:sp>
      <p:pic>
        <p:nvPicPr>
          <p:cNvPr id="3" name="漫畫第4格" descr="第4格漫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4828032"/>
          </a:xfrm>
          <a:prstGeom prst="rect">
            <a:avLst/>
          </a:prstGeom>
        </p:spPr>
      </p:pic>
      <p:sp>
        <p:nvSpPr>
          <p:cNvPr id="4" name="重點卡"/>
          <p:cNvSpPr/>
          <p:nvPr/>
        </p:nvSpPr>
        <p:spPr>
          <a:xfrm>
            <a:off x="6858000" y="1325880"/>
            <a:ext cx="4800600" cy="482803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5" name="講者重點"/>
          <p:cNvSpPr txBox="1"/>
          <p:nvPr/>
        </p:nvSpPr>
        <p:spPr>
          <a:xfrm>
            <a:off x="7086600" y="155448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Level 1：&lt; 70 mg/dL；Level 2：&lt; 54 mg/dL；Level 3：伴嚴重症狀需他人協助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午餐量少時，磺醯脲類使傍晚低血糖風險升高，個案常誤認為疲勞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處置：15 公克速效糖類，15 分鐘後再測，並與醫師討論藥物調整</a:t>
            </a:r>
            <a:endParaRPr lang="en-US" sz="1800" dirty="0"/>
          </a:p>
        </p:txBody>
      </p:sp>
      <p:sp>
        <p:nvSpPr>
          <p:cNvPr id="6" name="出處"/>
          <p:cNvSpPr txBox="1"/>
          <p:nvPr/>
        </p:nvSpPr>
        <p:spPr>
          <a:xfrm>
            <a:off x="7086600" y="52578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本例最低 64 mg/dL，屬 Level 1，仍需處理與追蹤。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⑤ 回診：看曲線共同決策</a:t>
            </a:r>
            <a:endParaRPr lang="en-US" dirty="0"/>
          </a:p>
        </p:txBody>
      </p:sp>
      <p:pic>
        <p:nvPicPr>
          <p:cNvPr id="3" name="漫畫第5格" descr="第5格漫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4828032"/>
          </a:xfrm>
          <a:prstGeom prst="rect">
            <a:avLst/>
          </a:prstGeom>
        </p:spPr>
      </p:pic>
      <p:sp>
        <p:nvSpPr>
          <p:cNvPr id="4" name="重點卡"/>
          <p:cNvSpPr/>
          <p:nvPr/>
        </p:nvSpPr>
        <p:spPr>
          <a:xfrm>
            <a:off x="6858000" y="1325880"/>
            <a:ext cx="4800600" cy="482803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5" name="講者重點"/>
          <p:cNvSpPr txBox="1"/>
          <p:nvPr/>
        </p:nvSpPr>
        <p:spPr>
          <a:xfrm>
            <a:off x="7086600" y="1554480"/>
            <a:ext cx="4343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AGP 判讀順序：先看低血糖，再看變異，最後看 TIR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用個案自己的曲線討論，比口頭衛教更有感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以個案語言訂定一到兩個可達成的行為目標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⑥ 成效：8 週後</a:t>
            </a:r>
            <a:endParaRPr lang="en-US" dirty="0"/>
          </a:p>
        </p:txBody>
      </p:sp>
      <p:pic>
        <p:nvPicPr>
          <p:cNvPr id="3" name="漫畫第6格" descr="第6格漫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035040" cy="4828032"/>
          </a:xfrm>
          <a:prstGeom prst="rect">
            <a:avLst/>
          </a:prstGeom>
        </p:spPr>
      </p:pic>
      <p:sp>
        <p:nvSpPr>
          <p:cNvPr id="4" name="重點卡"/>
          <p:cNvSpPr/>
          <p:nvPr/>
        </p:nvSpPr>
        <p:spPr>
          <a:xfrm>
            <a:off x="6858000" y="1325880"/>
            <a:ext cx="4800600" cy="4828032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5" name="講者重點"/>
          <p:cNvSpPr txBox="1"/>
          <p:nvPr/>
        </p:nvSpPr>
        <p:spPr>
          <a:xfrm>
            <a:off x="7086600" y="155448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TIR 52% → 78%（目標 &gt; 70%）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TBR 6% → 1%（目標 &lt; 4%）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CV 41% → 29%（目標 ≤ 36%）；GMI 8.1% → 7.0%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TIR 提升與微血管併發症風險下降相關</a:t>
            </a:r>
            <a:endParaRPr lang="en-US" sz="1800" dirty="0"/>
          </a:p>
        </p:txBody>
      </p:sp>
      <p:sp>
        <p:nvSpPr>
          <p:cNvPr id="6" name="出處"/>
          <p:cNvSpPr txBox="1"/>
          <p:nvPr/>
        </p:nvSpPr>
        <p:spPr>
          <a:xfrm>
            <a:off x="7086600" y="52578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Beck RW, et al. Diabetes Care 2019;42:400.  個案與數值皆為示意。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⑦ 8 週後的 CGM 指標</a:t>
            </a:r>
            <a:endParaRPr lang="en-US" dirty="0"/>
          </a:p>
        </p:txBody>
      </p:sp>
      <p:sp>
        <p:nvSpPr>
          <p:cNvPr id="3" name="指標卡1"/>
          <p:cNvSpPr/>
          <p:nvPr/>
        </p:nvSpPr>
        <p:spPr>
          <a:xfrm>
            <a:off x="548640" y="1463040"/>
            <a:ext cx="2651760" cy="3108960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TIR 70–180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調整前 52%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78%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目標 &gt; 70%</a:t>
            </a:r>
            <a:endParaRPr lang="en-US" sz="1400" dirty="0"/>
          </a:p>
        </p:txBody>
      </p:sp>
      <p:sp>
        <p:nvSpPr>
          <p:cNvPr id="8" name="指標卡2"/>
          <p:cNvSpPr/>
          <p:nvPr/>
        </p:nvSpPr>
        <p:spPr>
          <a:xfrm>
            <a:off x="3364992" y="1463040"/>
            <a:ext cx="2651760" cy="3108960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47872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TBR &lt; 70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調整前 6%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目標 &lt; 4%</a:t>
            </a:r>
            <a:endParaRPr lang="en-US" sz="1400" dirty="0"/>
          </a:p>
        </p:txBody>
      </p:sp>
      <p:sp>
        <p:nvSpPr>
          <p:cNvPr id="13" name="指標卡3"/>
          <p:cNvSpPr/>
          <p:nvPr/>
        </p:nvSpPr>
        <p:spPr>
          <a:xfrm>
            <a:off x="6181344" y="1463040"/>
            <a:ext cx="2651760" cy="3108960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64224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變異係數 CV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調整前 41%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64224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29%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目標 ≤ 36%</a:t>
            </a:r>
            <a:endParaRPr lang="en-US" sz="1400" dirty="0"/>
          </a:p>
        </p:txBody>
      </p:sp>
      <p:sp>
        <p:nvSpPr>
          <p:cNvPr id="18" name="指標卡4"/>
          <p:cNvSpPr/>
          <p:nvPr/>
        </p:nvSpPr>
        <p:spPr>
          <a:xfrm>
            <a:off x="8997696" y="1463040"/>
            <a:ext cx="2651760" cy="3108960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50800" dir="2700000">
              <a:srgbClr val="1B1B1B">
                <a:alpha val="3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80576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GMI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調整前 8.1%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7.0%</a:t>
            </a:r>
            <a:endParaRPr lang="en-US" sz="5400" dirty="0"/>
          </a:p>
        </p:txBody>
      </p:sp>
      <p:sp>
        <p:nvSpPr>
          <p:cNvPr id="22" name="Text 20"/>
          <p:cNvSpPr txBox="1"/>
          <p:nvPr/>
        </p:nvSpPr>
        <p:spPr>
          <a:xfrm>
            <a:off x="9180576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依個別化目標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追蹤順序：TBR、CV、TIR，再對照 GMI 與 HbA1c；GMI 與 HbA1c 可能不一致，需解讀個別差異。建議每 2–4 週回顧一次 AGP，直到穩定。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個案與數值皆為示意；目標值參考 2019 年 CGM 國際共識（一般成人 T2DM）。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帶回去的三件事</a:t>
            </a:r>
            <a:endParaRPr lang="en-US" dirty="0"/>
          </a:p>
        </p:txBody>
      </p:sp>
      <p:sp>
        <p:nvSpPr>
          <p:cNvPr id="3" name="圓1"/>
          <p:cNvSpPr/>
          <p:nvPr/>
        </p:nvSpPr>
        <p:spPr>
          <a:xfrm>
            <a:off x="731520" y="1600200"/>
            <a:ext cx="1005840" cy="1005840"/>
          </a:xfrm>
          <a:prstGeom prst="ellipse">
            <a:avLst/>
          </a:prstGeom>
          <a:solidFill>
            <a:schemeClr val="accent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看見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55448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CGM 能看到清晨上升、餐後高峰與無症狀低血糖</a:t>
            </a:r>
            <a:endParaRPr lang="en-US" sz="2400" dirty="0"/>
          </a:p>
        </p:txBody>
      </p:sp>
      <p:sp>
        <p:nvSpPr>
          <p:cNvPr id="6" name="圓2"/>
          <p:cNvSpPr/>
          <p:nvPr/>
        </p:nvSpPr>
        <p:spPr>
          <a:xfrm>
            <a:off x="731520" y="3200400"/>
            <a:ext cx="1005840" cy="1005840"/>
          </a:xfrm>
          <a:prstGeom prst="ellipse">
            <a:avLst/>
          </a:prstGeom>
          <a:solidFill>
            <a:schemeClr val="accent4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2004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討論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15468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拿個案自己的曲線討論飲食、活動與用藥</a:t>
            </a:r>
            <a:endParaRPr lang="en-US" sz="2400" dirty="0"/>
          </a:p>
        </p:txBody>
      </p:sp>
      <p:sp>
        <p:nvSpPr>
          <p:cNvPr id="9" name="圓3"/>
          <p:cNvSpPr/>
          <p:nvPr/>
        </p:nvSpPr>
        <p:spPr>
          <a:xfrm>
            <a:off x="731520" y="4800600"/>
            <a:ext cx="1005840" cy="1005840"/>
          </a:xfrm>
          <a:prstGeom prst="ellipse">
            <a:avLst/>
          </a:prstGeom>
          <a:solidFill>
            <a:schemeClr val="accent2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800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追蹤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475488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以降低高峰與低血糖為目標，追蹤 TIR、TBR 與 CV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GM Story">
  <a:themeElements>
    <a:clrScheme name="CGM Story">
      <a:dk1>
        <a:srgbClr val="1B1B1B"/>
      </a:dk1>
      <a:lt1>
        <a:srgbClr val="FFFFFF"/>
      </a:lt1>
      <a:dk2>
        <a:srgbClr val="14292B"/>
      </a:dk2>
      <a:lt2>
        <a:srgbClr val="FDF4DC"/>
      </a:lt2>
      <a:accent1>
        <a:srgbClr val="2A9D8F"/>
      </a:accent1>
      <a:accent2>
        <a:srgbClr val="E63946"/>
      </a:accent2>
      <a:accent3>
        <a:srgbClr val="FFD23F"/>
      </a:accent3>
      <a:accent4>
        <a:srgbClr val="3B6FB6"/>
      </a:accent4>
      <a:accent5>
        <a:srgbClr val="E8590C"/>
      </a:accent5>
      <a:accent6>
        <a:srgbClr val="6FD09A"/>
      </a:accent6>
      <a:hlink>
        <a:srgbClr val="3B6FB6"/>
      </a:hlink>
      <a:folHlink>
        <a:srgbClr val="566B6D"/>
      </a:folHlink>
    </a:clrScheme>
    <a:fontScheme name="CGM Story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2026-10-05T13:19:51Z</dcterms:created>
  <dcterms:modified xsi:type="dcterms:W3CDTF">2026-10-05T13:19:51Z</dcterms:modified>
</cp:coreProperties>
</file>