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 CGM 指標促進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醫病共同決策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連續血糖監測的就診溝通與可近性策略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慢性病整合照護｜衛教與個案管理訓練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內容大綱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資料來源：The diaTribe Foundation 衛教影片（逐字稿整理）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1887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18872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現況與問題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17556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175564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核心溝通模式：目標先行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22960" y="232257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32257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三項核心指標：TIR、AGP、變異性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22960" y="288950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288950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情境示範：午餐後血糖飆升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22960" y="345643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345643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爭取 CGM：障礙與因應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22960" y="40233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402336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導入建議與追蹤指標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現況與問題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資料來源：The diaTribe Foundation 衛教影片（逐字稿整理）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0116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74520"/>
            <a:ext cx="18288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CGM 提供完整血糖輪廓，可呈現飲食、運動等因素的影響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450592" y="1188720"/>
            <a:ext cx="201168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問題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50592" y="17830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874520"/>
            <a:ext cx="18288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資料量大、門診時間有限，討論易停留在數字，未轉為行動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26864" y="1188720"/>
            <a:ext cx="201168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26864" y="17830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874520"/>
            <a:ext cx="18288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就診前設定目標，就診時聚焦三項指標，結束前約定一件事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03136" y="1188720"/>
            <a:ext cx="2011680" cy="50292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20" name="Text 18"/>
          <p:cNvSpPr/>
          <p:nvPr/>
        </p:nvSpPr>
        <p:spPr>
          <a:xfrm>
            <a:off x="6803136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預期效益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03136" y="17830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874520"/>
            <a:ext cx="18288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提升病人參與度，使調整方案貼近生活情境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核心溝通模式：目標先行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資料來源：The diaTribe Foundation 衛教影片（逐字稿整理）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就診前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148840"/>
            <a:ext cx="2340864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想好目標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數值型：增加達標時間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生活型：了解壓力、旅行、運動的影響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62656" y="1417320"/>
            <a:ext cx="256032" cy="365760"/>
          </a:xfrm>
          <a:prstGeom prst="rightArrow">
            <a:avLst/>
          </a:prstGeom>
          <a:solidFill>
            <a:srgbClr val="B8960C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2801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就診中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46120" y="20574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55848" y="2148840"/>
            <a:ext cx="2340864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先說目標，再看指標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TIR → AGP → 變異性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43016" y="1417320"/>
            <a:ext cx="256032" cy="365760"/>
          </a:xfrm>
          <a:prstGeom prst="rightArrow">
            <a:avLst/>
          </a:prstGeom>
          <a:solidFill>
            <a:srgbClr val="B8960C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2801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結束前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26480" y="20574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36208" y="2148840"/>
            <a:ext cx="2340864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回顧目標與指標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約定「一件可以做的事」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5A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你與醫療團隊是合作夥伴；數字不能定義個人，血糖起伏不需自責。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三項核心指標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資料來源：The diaTribe Foundation 衛教影片（逐字稿整理）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91440" cy="329184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達標時間 TIR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血糖落在目標範圍內的時間百分比；範圍可依個人調整。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用途：判斷該先處理低血糖端或高血糖端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188720"/>
            <a:ext cx="91440" cy="329184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80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AGP 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1874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整合多日資料，呈現血糖模式。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用途：找出餐後飆升、夜間偏低等模式，作為調整依據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188720"/>
            <a:ext cx="91440" cy="329184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280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血糖變異性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55080" y="1874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反映血糖在高低之間波動的頻率（變異係數）。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用途：了解各種因素的影響，判斷是否需調整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情境示範：午餐後血糖飆升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資料來源：The diaTribe Foundation 衛教影片（逐字稿整理）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146304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病人目標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安心吃午餐，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一整天不感到不適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01368" y="2240280"/>
            <a:ext cx="164592" cy="365760"/>
          </a:xfrm>
          <a:prstGeom prst="rightArrow">
            <a:avLst/>
          </a:prstGeom>
          <a:solidFill>
            <a:srgbClr val="B8960C"/>
          </a:solidFill>
          <a:ln/>
        </p:spPr>
      </p:sp>
      <p:sp>
        <p:nvSpPr>
          <p:cNvPr id="10" name="Shape 8"/>
          <p:cNvSpPr/>
          <p:nvPr/>
        </p:nvSpPr>
        <p:spPr>
          <a:xfrm>
            <a:off x="1984248" y="137160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1417320"/>
            <a:ext cx="146304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AGP 判讀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午餐後約 45 分鐘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出現高峰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57016" y="2240280"/>
            <a:ext cx="164592" cy="365760"/>
          </a:xfrm>
          <a:prstGeom prst="rightArrow">
            <a:avLst/>
          </a:prstGeom>
          <a:solidFill>
            <a:srgbClr val="B8960C"/>
          </a:solidFill>
          <a:ln/>
        </p:spPr>
      </p:sp>
      <p:sp>
        <p:nvSpPr>
          <p:cNvPr id="13" name="Shape 11"/>
          <p:cNvSpPr/>
          <p:nvPr/>
        </p:nvSpPr>
        <p:spPr>
          <a:xfrm>
            <a:off x="3739896" y="137160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5616" y="1417320"/>
            <a:ext cx="146304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排除低血糖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波動幅度不大，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未見後續驟降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12664" y="2240280"/>
            <a:ext cx="164592" cy="365760"/>
          </a:xfrm>
          <a:prstGeom prst="rightArrow">
            <a:avLst/>
          </a:prstGeom>
          <a:solidFill>
            <a:srgbClr val="B8960C"/>
          </a:solidFill>
          <a:ln/>
        </p:spPr>
      </p:sp>
      <p:sp>
        <p:nvSpPr>
          <p:cNvPr id="16" name="Shape 14"/>
          <p:cNvSpPr/>
          <p:nvPr/>
        </p:nvSpPr>
        <p:spPr>
          <a:xfrm>
            <a:off x="5495544" y="137160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41264" y="1417320"/>
            <a:ext cx="146304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釐清情境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整天開會，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缺乏餐後活動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68312" y="2240280"/>
            <a:ext cx="164592" cy="365760"/>
          </a:xfrm>
          <a:prstGeom prst="rightArrow">
            <a:avLst/>
          </a:prstGeom>
          <a:solidFill>
            <a:srgbClr val="B8960C"/>
          </a:solidFill>
          <a:ln/>
        </p:spPr>
      </p:sp>
      <p:sp>
        <p:nvSpPr>
          <p:cNvPr id="19" name="Shape 17"/>
          <p:cNvSpPr/>
          <p:nvPr/>
        </p:nvSpPr>
        <p:spPr>
          <a:xfrm>
            <a:off x="7251192" y="137160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96912" y="1417320"/>
            <a:ext cx="146304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約定一件事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針對午餐後血糖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擬定調整行動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5A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重點：先確認病人的目標，再用 AGP 找出模式，最後收斂成單一、可執行的行動。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爭取 CGM：障礙與因應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資料來源：The diaTribe Foundation 衛教影片（逐字稿整理）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建議溝通方式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病人希望使用 CGM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說明個人目標，並引用影片所述 ADA 照護標準，主動提出使用需求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團隊不熟悉開立流程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請團隊參考廠商提供的醫事人員資源；詢問是否可協助申請試用或了解其他選擇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團隊認為不適合（成本、複雜）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表達先試用的意願，共同確認保險或給付條件，再自行決定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注意：影片立場以美國標準為依據；在臺灣應對照健保給付條件與本土指引。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導入建議與追蹤指標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資料來源：The diaTribe Foundation 衛教影片（逐字稿整理）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導入建議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回診前提供「目標設定單」，請病人先行填寫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門診固定以 TIR → AGP → 變異性順序討論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每次回診紀錄「一件可執行的事」，下次回顧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備妥 CGM 申請與溝通資源，支援團隊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261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目標設定率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664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回診前已有個人目標之比例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3591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報告判讀率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2761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門診實際討論 CGM 指標之比例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38328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456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行動達成率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上次約定行動之完成比例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8872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先有目標，再看數字，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最後約定一件事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你與醫療團隊是平等夥伴，CGM 指標是達成目標的路線圖。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延伸資源：TimeInRange.org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以 CGM 指標促進醫病共同決策</dc:title>
  <dc:subject>PptxGenJS Presentation</dc:subject>
  <dc:creator>PptxGenJS</dc:creator>
  <cp:lastModifiedBy>PptxGenJS</cp:lastModifiedBy>
  <cp:revision>1</cp:revision>
  <dcterms:created xsi:type="dcterms:W3CDTF">2026-10-04T16:51:21Z</dcterms:created>
  <dcterms:modified xsi:type="dcterms:W3CDTF">2026-10-04T16:51:21Z</dcterms:modified>
</cp:coreProperties>
</file>